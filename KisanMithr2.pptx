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8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slide" Target="slide10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9827F90-B0F9-A3F2-DF47-D93BFB362B04}"/>
              </a:ext>
            </a:extLst>
          </p:cNvPr>
          <p:cNvSpPr txBox="1"/>
          <p:nvPr/>
        </p:nvSpPr>
        <p:spPr>
          <a:xfrm>
            <a:off x="6173126" y="2521938"/>
            <a:ext cx="60188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DCEBDC"/>
                </a:solidFill>
              </a:defRPr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Farmer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Centric Agricultural Support Platform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BBEF66-77F7-3FEA-73F2-5AD9A18E9398}"/>
              </a:ext>
            </a:extLst>
          </p:cNvPr>
          <p:cNvSpPr txBox="1"/>
          <p:nvPr/>
        </p:nvSpPr>
        <p:spPr>
          <a:xfrm>
            <a:off x="5988395" y="3657600"/>
            <a:ext cx="18473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900">
                <a:solidFill>
                  <a:srgbClr val="FFFFFF"/>
                </a:solidFill>
              </a:defRPr>
            </a:pP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04280A-1BD0-ADBC-AAF0-0EE71C4E9251}"/>
              </a:ext>
            </a:extLst>
          </p:cNvPr>
          <p:cNvSpPr txBox="1"/>
          <p:nvPr/>
        </p:nvSpPr>
        <p:spPr>
          <a:xfrm>
            <a:off x="0" y="23597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Rajiv Gandhi University of Knowledge Technologies, Basar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23854F7-E09C-E35E-744C-AC4B60271A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639" t="13004" r="28937" b="11235"/>
          <a:stretch>
            <a:fillRect/>
          </a:stretch>
        </p:blipFill>
        <p:spPr>
          <a:xfrm>
            <a:off x="5144728" y="2941956"/>
            <a:ext cx="1902542" cy="189670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2E40B76-3D81-B27F-0F96-36C8EA69792A}"/>
              </a:ext>
            </a:extLst>
          </p:cNvPr>
          <p:cNvSpPr txBox="1"/>
          <p:nvPr/>
        </p:nvSpPr>
        <p:spPr>
          <a:xfrm>
            <a:off x="648930" y="4815840"/>
            <a:ext cx="1067783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            Under The Guidance Of:                                                                                              Team Members:</a:t>
            </a:r>
          </a:p>
          <a:p>
            <a:r>
              <a:rPr lang="en-US" dirty="0"/>
              <a:t>             Mrs. Uddamari Nagamani                                                                                           B221662 - S. Varsha</a:t>
            </a:r>
          </a:p>
          <a:p>
            <a:r>
              <a:rPr lang="en-US" dirty="0"/>
              <a:t>                                                                                                                                                     B220361 - G. Vaishnavi</a:t>
            </a:r>
          </a:p>
          <a:p>
            <a:r>
              <a:rPr lang="en-US" dirty="0"/>
              <a:t>                                                                                                                                                     B220198 - J. Anusha                                                                                                          </a:t>
            </a:r>
          </a:p>
          <a:p>
            <a:r>
              <a:rPr lang="en-US" sz="2000" dirty="0"/>
              <a:t>                                                                                                                                                     </a:t>
            </a:r>
            <a:endParaRPr lang="en-US" dirty="0"/>
          </a:p>
          <a:p>
            <a:r>
              <a:rPr lang="en-US" dirty="0"/>
              <a:t>       </a:t>
            </a:r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D6CB13-5142-8067-19C2-DB0071E9A2C3}"/>
              </a:ext>
            </a:extLst>
          </p:cNvPr>
          <p:cNvSpPr txBox="1"/>
          <p:nvPr/>
        </p:nvSpPr>
        <p:spPr>
          <a:xfrm>
            <a:off x="3937819" y="13273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A6DDCF-94B4-A8C2-3B62-0A470ADAA931}"/>
              </a:ext>
            </a:extLst>
          </p:cNvPr>
          <p:cNvSpPr txBox="1"/>
          <p:nvPr/>
        </p:nvSpPr>
        <p:spPr>
          <a:xfrm>
            <a:off x="-1" y="1814052"/>
            <a:ext cx="121920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KISANMITHR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7781A0-E71B-2F95-4E39-00871D00DAAE}"/>
              </a:ext>
            </a:extLst>
          </p:cNvPr>
          <p:cNvSpPr txBox="1"/>
          <p:nvPr/>
        </p:nvSpPr>
        <p:spPr>
          <a:xfrm>
            <a:off x="1" y="1209368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2551476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sz="3000" b="1"/>
              <a:t>2.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1908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37D48"/>
                </a:solidFill>
              </a:defRPr>
            </a:pPr>
            <a:r>
              <a:rPr sz="1400"/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8372D"/>
                </a:solidFill>
              </a:defRPr>
            </a:pPr>
            <a:r>
              <a:rPr sz="2400"/>
              <a:t>KisanMithr is a farmer-centric digital platform that brings essential agricultural services together in one place.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241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>
                <a:solidFill>
                  <a:srgbClr val="232D26"/>
                </a:solidFill>
              </a:defRPr>
            </a:pPr>
            <a:r>
              <a:rPr sz="2400"/>
              <a:t>• Connect farmers with nearby markets, tractors, harvesters and agricultural labour.</a:t>
            </a:r>
          </a:p>
          <a:p>
            <a:pPr>
              <a:spcAft>
                <a:spcPts val="900"/>
              </a:spcAft>
              <a:defRPr sz="2400">
                <a:solidFill>
                  <a:srgbClr val="232D26"/>
                </a:solidFill>
              </a:defRPr>
            </a:pPr>
            <a:r>
              <a:rPr sz="2400"/>
              <a:t>• Provide weather forecasts, crop calculation and government-scheme information.</a:t>
            </a:r>
          </a:p>
          <a:p>
            <a:pPr>
              <a:spcAft>
                <a:spcPts val="900"/>
              </a:spcAft>
              <a:defRPr sz="2400">
                <a:solidFill>
                  <a:srgbClr val="232D26"/>
                </a:solidFill>
              </a:defRPr>
            </a:pPr>
            <a:r>
              <a:rPr sz="2400"/>
              <a:t>• Make information easier to access through search, multiple languages and voice-over.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572000"/>
            <a:ext cx="10241280" cy="146009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7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2400" b="1">
                <a:solidFill>
                  <a:srgbClr val="18372D"/>
                </a:solidFill>
              </a:defRPr>
            </a:pPr>
            <a:r>
              <a:rPr sz="2400" dirty="0"/>
              <a:t>Why is it needed?</a:t>
            </a:r>
          </a:p>
          <a:p>
            <a:pPr>
              <a:defRPr sz="2400">
                <a:solidFill>
                  <a:srgbClr val="232D26"/>
                </a:solidFill>
              </a:defRPr>
            </a:pPr>
            <a:r>
              <a:rPr sz="2400" dirty="0"/>
              <a:t>Farmers may otherwise depend on different sources and local contacts for different agricultural needs.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sz="3000" b="1"/>
              <a:t>3.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1908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37D48"/>
                </a:solidFill>
              </a:defRPr>
            </a:pPr>
            <a:r>
              <a:rPr sz="1400"/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8372D"/>
                </a:solidFill>
              </a:defRPr>
            </a:pPr>
            <a:r>
              <a:rPr sz="2400"/>
              <a:t>The core problem is fragmented access to agricultural services.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525780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7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2400" b="1">
                <a:solidFill>
                  <a:srgbClr val="18372D"/>
                </a:solidFill>
              </a:defRPr>
            </a:pPr>
            <a:r>
              <a:rPr sz="2400"/>
              <a:t>Fragmented Services</a:t>
            </a:r>
          </a:p>
          <a:p>
            <a:pPr>
              <a:defRPr sz="2400">
                <a:solidFill>
                  <a:srgbClr val="232D26"/>
                </a:solidFill>
              </a:defRPr>
            </a:pPr>
            <a:r>
              <a:rPr sz="2400"/>
              <a:t>Crop prices, weather, schemes, farming equipment and labour may be available through different sources.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28800"/>
            <a:ext cx="525780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7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2400" b="1">
                <a:solidFill>
                  <a:srgbClr val="18372D"/>
                </a:solidFill>
              </a:defRPr>
            </a:pPr>
            <a:r>
              <a:rPr sz="2400"/>
              <a:t>Accessibility Challenges</a:t>
            </a:r>
          </a:p>
          <a:p>
            <a:pPr>
              <a:defRPr sz="2400">
                <a:solidFill>
                  <a:srgbClr val="232D26"/>
                </a:solidFill>
              </a:defRPr>
            </a:pPr>
            <a:r>
              <a:rPr sz="2400"/>
              <a:t>Farmers may face difficulty with manual calculations, language barriers, limited search options and basic-phone access.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37D48"/>
                </a:solidFill>
              </a:defRPr>
            </a:pPr>
            <a:r>
              <a:rPr sz="2400"/>
              <a:t>Need: a simple, location-aware and accessible agricultural platform.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sz="3000" b="1"/>
              <a:t>4.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1908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37D48"/>
                </a:solidFill>
              </a:defRPr>
            </a:pPr>
            <a:r>
              <a:rPr sz="1400"/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8372D"/>
                </a:solidFill>
              </a:defRPr>
            </a:pPr>
            <a:r>
              <a:rPr sz="2400"/>
              <a:t>Main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32D26"/>
                </a:solidFill>
              </a:defRPr>
            </a:pPr>
            <a:r>
              <a:rPr sz="2400"/>
              <a:t>Develop a single platform connecting farmers with useful agricultural services and location-based resources.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8372D"/>
                </a:solidFill>
              </a:defRPr>
            </a:pPr>
            <a:r>
              <a:rPr sz="2400"/>
              <a:t>Specific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51206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>
                <a:solidFill>
                  <a:srgbClr val="232D26"/>
                </a:solidFill>
              </a:defRPr>
            </a:pPr>
            <a:r>
              <a:rPr sz="2400"/>
              <a:t>• Use GPS, geocoding and nearby search.</a:t>
            </a:r>
          </a:p>
          <a:p>
            <a:pPr>
              <a:spcAft>
                <a:spcPts val="900"/>
              </a:spcAft>
              <a:defRPr sz="2400">
                <a:solidFill>
                  <a:srgbClr val="232D26"/>
                </a:solidFill>
              </a:defRPr>
            </a:pPr>
            <a:r>
              <a:rPr sz="2400"/>
              <a:t>• Provide a Crop Calculator for estimated inputs and costs.</a:t>
            </a:r>
          </a:p>
          <a:p>
            <a:pPr>
              <a:spcAft>
                <a:spcPts val="900"/>
              </a:spcAft>
              <a:defRPr sz="2400">
                <a:solidFill>
                  <a:srgbClr val="232D26"/>
                </a:solidFill>
              </a:defRPr>
            </a:pPr>
            <a:r>
              <a:rPr sz="2400"/>
              <a:t>• Provide location-based weather forecasts.</a:t>
            </a:r>
          </a:p>
          <a:p>
            <a:pPr>
              <a:spcAft>
                <a:spcPts val="900"/>
              </a:spcAft>
              <a:defRPr sz="2400">
                <a:solidFill>
                  <a:srgbClr val="232D26"/>
                </a:solidFill>
              </a:defRPr>
            </a:pPr>
            <a:r>
              <a:rPr sz="2400"/>
              <a:t>• Help find nearby markets, vehicles and labour.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5603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8372D"/>
                </a:solidFill>
              </a:defRPr>
            </a:pPr>
            <a:r>
              <a:rPr sz="2400"/>
              <a:t>Accessibility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063240"/>
            <a:ext cx="48920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>
                <a:solidFill>
                  <a:srgbClr val="232D26"/>
                </a:solidFill>
              </a:defRPr>
            </a:pPr>
            <a:r>
              <a:rPr sz="2400"/>
              <a:t>• Support multiple languages.</a:t>
            </a:r>
          </a:p>
          <a:p>
            <a:pPr>
              <a:spcAft>
                <a:spcPts val="900"/>
              </a:spcAft>
              <a:defRPr sz="2400">
                <a:solidFill>
                  <a:srgbClr val="232D26"/>
                </a:solidFill>
              </a:defRPr>
            </a:pPr>
            <a:r>
              <a:rPr sz="2400"/>
              <a:t>• Provide voice-over / text-to-speech.</a:t>
            </a:r>
          </a:p>
          <a:p>
            <a:pPr>
              <a:spcAft>
                <a:spcPts val="900"/>
              </a:spcAft>
              <a:defRPr sz="2400">
                <a:solidFill>
                  <a:srgbClr val="232D26"/>
                </a:solidFill>
              </a:defRPr>
            </a:pPr>
            <a:r>
              <a:rPr sz="2400"/>
              <a:t>• Offer search-bar based navigation.</a:t>
            </a:r>
          </a:p>
          <a:p>
            <a:pPr>
              <a:spcAft>
                <a:spcPts val="900"/>
              </a:spcAft>
              <a:defRPr sz="2400">
                <a:solidFill>
                  <a:srgbClr val="232D26"/>
                </a:solidFill>
              </a:defRPr>
            </a:pPr>
            <a:r>
              <a:rPr sz="2400"/>
              <a:t>• Explore SMS updates for basic phones after assisted registration.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sz="3000" b="1"/>
              <a:t>5. Existing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1908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37D48"/>
                </a:solidFill>
              </a:defRPr>
            </a:pPr>
            <a:r>
              <a:rPr sz="1400"/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8372D"/>
                </a:solidFill>
              </a:defRPr>
            </a:pPr>
            <a:r>
              <a:rPr sz="2400"/>
              <a:t>Current / existing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37D48"/>
                </a:solidFill>
              </a:defRPr>
            </a:pPr>
            <a:r>
              <a:rPr sz="2400"/>
              <a:t>Crop prices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1828800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32D26"/>
                </a:solidFill>
              </a:defRPr>
            </a:pPr>
            <a:r>
              <a:rPr sz="2400"/>
              <a:t>→  Local market / dealer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37D48"/>
                </a:solidFill>
              </a:defRPr>
            </a:pPr>
            <a:r>
              <a:rPr sz="2400"/>
              <a:t>Weather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2514600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32D26"/>
                </a:solidFill>
              </a:defRPr>
            </a:pPr>
            <a:r>
              <a:rPr sz="2400"/>
              <a:t>→  Separate app / website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37D48"/>
                </a:solidFill>
              </a:defRPr>
            </a:pPr>
            <a:r>
              <a:rPr sz="2400"/>
              <a:t>Government schemes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3200400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32D26"/>
                </a:solidFill>
              </a:defRPr>
            </a:pPr>
            <a:r>
              <a:rPr sz="2400"/>
              <a:t>→  Government portals / service centres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8620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37D48"/>
                </a:solidFill>
              </a:defRPr>
            </a:pPr>
            <a:r>
              <a:rPr sz="2400"/>
              <a:t>Vehicles &amp; labour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3915696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32D26"/>
                </a:solidFill>
              </a:defRPr>
            </a:pPr>
            <a:r>
              <a:rPr sz="2400"/>
              <a:t>→  Local contacts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7200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37D48"/>
                </a:solidFill>
              </a:defRPr>
            </a:pPr>
            <a:r>
              <a:rPr sz="2400"/>
              <a:t>Crop planning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4572000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32D26"/>
                </a:solidFill>
              </a:defRPr>
            </a:pPr>
            <a:r>
              <a:rPr sz="2400"/>
              <a:t>→  Manual estimation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138928"/>
            <a:ext cx="1037844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7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2400" b="1">
                <a:solidFill>
                  <a:srgbClr val="18372D"/>
                </a:solidFill>
              </a:defRPr>
            </a:pPr>
            <a:r>
              <a:rPr sz="2400" dirty="0"/>
              <a:t>Limitations</a:t>
            </a:r>
          </a:p>
          <a:p>
            <a:pPr algn="ctr">
              <a:defRPr sz="2400">
                <a:solidFill>
                  <a:srgbClr val="232D26"/>
                </a:solidFill>
              </a:defRPr>
            </a:pPr>
            <a:r>
              <a:rPr lang="en-US" sz="2400" dirty="0"/>
              <a:t>• </a:t>
            </a:r>
            <a:r>
              <a:rPr sz="2400" dirty="0"/>
              <a:t>Scattered services • more searching • limited local visibility</a:t>
            </a:r>
            <a:endParaRPr lang="en-US" sz="2400" dirty="0"/>
          </a:p>
          <a:p>
            <a:pPr algn="ctr">
              <a:defRPr sz="2400">
                <a:solidFill>
                  <a:srgbClr val="232D26"/>
                </a:solidFill>
              </a:defRPr>
            </a:pPr>
            <a:r>
              <a:rPr sz="2400" dirty="0"/>
              <a:t>• manual calculations • accessibility barriers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sz="3000" b="1"/>
              <a:t>6. 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1908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37D48"/>
                </a:solidFill>
              </a:defRPr>
            </a:pPr>
            <a:r>
              <a:rPr sz="1400"/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8372D"/>
                </a:solidFill>
              </a:defRPr>
            </a:pPr>
            <a:r>
              <a:rPr sz="2400"/>
              <a:t>KisanMithr brings the major farmer services into one interface.</a:t>
            </a:r>
          </a:p>
        </p:txBody>
      </p:sp>
      <p:sp>
        <p:nvSpPr>
          <p:cNvPr id="6" name="Oval 5">
            <a:hlinkClick r:id="rId2" action="ppaction://hlinksldjump"/>
          </p:cNvPr>
          <p:cNvSpPr/>
          <p:nvPr/>
        </p:nvSpPr>
        <p:spPr>
          <a:xfrm>
            <a:off x="822960" y="1645920"/>
            <a:ext cx="822960" cy="822960"/>
          </a:xfrm>
          <a:prstGeom prst="ellipse">
            <a:avLst/>
          </a:prstGeom>
          <a:solidFill>
            <a:srgbClr val="437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rPr sz="2400"/>
              <a:t>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42032"/>
            <a:ext cx="1463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8372D"/>
                </a:solidFill>
              </a:defRPr>
            </a:pPr>
            <a:r>
              <a:rPr sz="2400"/>
              <a:t>Market</a:t>
            </a:r>
          </a:p>
        </p:txBody>
      </p:sp>
      <p:sp>
        <p:nvSpPr>
          <p:cNvPr id="8" name="Oval 7">
            <a:hlinkClick r:id="rId2" action="ppaction://hlinksldjump"/>
          </p:cNvPr>
          <p:cNvSpPr/>
          <p:nvPr/>
        </p:nvSpPr>
        <p:spPr>
          <a:xfrm>
            <a:off x="2743200" y="1645920"/>
            <a:ext cx="822960" cy="822960"/>
          </a:xfrm>
          <a:prstGeom prst="ellipse">
            <a:avLst/>
          </a:prstGeom>
          <a:solidFill>
            <a:srgbClr val="437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rPr sz="2400"/>
              <a:t>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542032"/>
            <a:ext cx="1463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8372D"/>
                </a:solidFill>
              </a:defRPr>
            </a:pPr>
            <a:r>
              <a:rPr sz="2400"/>
              <a:t>Vehicles</a:t>
            </a:r>
          </a:p>
        </p:txBody>
      </p:sp>
      <p:sp>
        <p:nvSpPr>
          <p:cNvPr id="10" name="Oval 9">
            <a:hlinkClick r:id="rId2" action="ppaction://hlinksldjump"/>
          </p:cNvPr>
          <p:cNvSpPr/>
          <p:nvPr/>
        </p:nvSpPr>
        <p:spPr>
          <a:xfrm>
            <a:off x="4663440" y="1645920"/>
            <a:ext cx="822960" cy="822960"/>
          </a:xfrm>
          <a:prstGeom prst="ellipse">
            <a:avLst/>
          </a:prstGeom>
          <a:solidFill>
            <a:srgbClr val="437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rPr sz="2400"/>
              <a:t>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542032"/>
            <a:ext cx="1463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8372D"/>
                </a:solidFill>
              </a:defRPr>
            </a:pPr>
            <a:r>
              <a:rPr sz="2400"/>
              <a:t>Labour</a:t>
            </a:r>
          </a:p>
        </p:txBody>
      </p:sp>
      <p:sp>
        <p:nvSpPr>
          <p:cNvPr id="12" name="Oval 11">
            <a:hlinkClick r:id="rId2" action="ppaction://hlinksldjump"/>
          </p:cNvPr>
          <p:cNvSpPr/>
          <p:nvPr/>
        </p:nvSpPr>
        <p:spPr>
          <a:xfrm>
            <a:off x="6583680" y="1645920"/>
            <a:ext cx="822960" cy="822960"/>
          </a:xfrm>
          <a:prstGeom prst="ellipse">
            <a:avLst/>
          </a:prstGeom>
          <a:solidFill>
            <a:srgbClr val="437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rPr sz="2400"/>
              <a:t>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542032"/>
            <a:ext cx="1463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8372D"/>
                </a:solidFill>
              </a:defRPr>
            </a:pPr>
            <a:r>
              <a:rPr sz="2400"/>
              <a:t>Weather</a:t>
            </a:r>
          </a:p>
        </p:txBody>
      </p:sp>
      <p:sp>
        <p:nvSpPr>
          <p:cNvPr id="14" name="Oval 13">
            <a:hlinkClick r:id="rId2" action="ppaction://hlinksldjump"/>
          </p:cNvPr>
          <p:cNvSpPr/>
          <p:nvPr/>
        </p:nvSpPr>
        <p:spPr>
          <a:xfrm>
            <a:off x="8503920" y="1645920"/>
            <a:ext cx="822960" cy="822960"/>
          </a:xfrm>
          <a:prstGeom prst="ellipse">
            <a:avLst/>
          </a:prstGeom>
          <a:solidFill>
            <a:srgbClr val="437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rPr sz="2400"/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542032"/>
            <a:ext cx="1463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8372D"/>
                </a:solidFill>
              </a:defRPr>
            </a:pPr>
            <a:r>
              <a:rPr sz="2400"/>
              <a:t>Crop Calculator</a:t>
            </a:r>
          </a:p>
        </p:txBody>
      </p:sp>
      <p:sp>
        <p:nvSpPr>
          <p:cNvPr id="16" name="Oval 15">
            <a:hlinkClick r:id="rId2" action="ppaction://hlinksldjump"/>
          </p:cNvPr>
          <p:cNvSpPr/>
          <p:nvPr/>
        </p:nvSpPr>
        <p:spPr>
          <a:xfrm>
            <a:off x="10424158" y="1645920"/>
            <a:ext cx="822961" cy="822960"/>
          </a:xfrm>
          <a:prstGeom prst="ellipse">
            <a:avLst/>
          </a:prstGeom>
          <a:solidFill>
            <a:srgbClr val="437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rPr sz="2400"/>
              <a:t>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2542032"/>
            <a:ext cx="14630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8372D"/>
                </a:solidFill>
              </a:defRPr>
            </a:pPr>
            <a:r>
              <a:rPr lang="en-US" sz="2400" dirty="0"/>
              <a:t>Govt</a:t>
            </a:r>
          </a:p>
          <a:p>
            <a:pPr algn="ctr">
              <a:defRPr sz="1800" b="1">
                <a:solidFill>
                  <a:srgbClr val="18372D"/>
                </a:solidFill>
              </a:defRPr>
            </a:pPr>
            <a:r>
              <a:rPr sz="2400" dirty="0"/>
              <a:t>Schemes</a:t>
            </a:r>
          </a:p>
        </p:txBody>
      </p:sp>
      <p:sp>
        <p:nvSpPr>
          <p:cNvPr id="18" name="Oval 17">
            <a:hlinkClick r:id="rId2" action="ppaction://hlinksldjump"/>
          </p:cNvPr>
          <p:cNvSpPr/>
          <p:nvPr/>
        </p:nvSpPr>
        <p:spPr>
          <a:xfrm>
            <a:off x="1828800" y="3886200"/>
            <a:ext cx="822960" cy="822960"/>
          </a:xfrm>
          <a:prstGeom prst="ellipse">
            <a:avLst/>
          </a:prstGeom>
          <a:solidFill>
            <a:srgbClr val="437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rPr sz="2400"/>
              <a:t>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1463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8372D"/>
                </a:solidFill>
              </a:defRPr>
            </a:pPr>
            <a:r>
              <a:rPr sz="2400"/>
              <a:t>Search</a:t>
            </a:r>
          </a:p>
        </p:txBody>
      </p:sp>
      <p:sp>
        <p:nvSpPr>
          <p:cNvPr id="20" name="Oval 19">
            <a:hlinkClick r:id="rId2" action="ppaction://hlinksldjump"/>
          </p:cNvPr>
          <p:cNvSpPr/>
          <p:nvPr/>
        </p:nvSpPr>
        <p:spPr>
          <a:xfrm>
            <a:off x="4069080" y="3886200"/>
            <a:ext cx="822960" cy="822960"/>
          </a:xfrm>
          <a:prstGeom prst="ellipse">
            <a:avLst/>
          </a:prstGeom>
          <a:solidFill>
            <a:srgbClr val="437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rPr sz="2400"/>
              <a:t>Aa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0" y="4782312"/>
            <a:ext cx="1463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8372D"/>
                </a:solidFill>
              </a:defRPr>
            </a:pPr>
            <a:r>
              <a:rPr sz="2400"/>
              <a:t>Languages</a:t>
            </a:r>
          </a:p>
        </p:txBody>
      </p:sp>
      <p:sp>
        <p:nvSpPr>
          <p:cNvPr id="22" name="Oval 21">
            <a:hlinkClick r:id="rId2" action="ppaction://hlinksldjump"/>
          </p:cNvPr>
          <p:cNvSpPr/>
          <p:nvPr/>
        </p:nvSpPr>
        <p:spPr>
          <a:xfrm>
            <a:off x="6309360" y="3886200"/>
            <a:ext cx="822960" cy="822960"/>
          </a:xfrm>
          <a:prstGeom prst="ellipse">
            <a:avLst/>
          </a:prstGeom>
          <a:solidFill>
            <a:srgbClr val="437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rPr sz="2400"/>
              <a:t>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4782312"/>
            <a:ext cx="1463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8372D"/>
                </a:solidFill>
              </a:defRPr>
            </a:pPr>
            <a:r>
              <a:rPr sz="2400"/>
              <a:t>Voice-over</a:t>
            </a:r>
          </a:p>
        </p:txBody>
      </p:sp>
      <p:sp>
        <p:nvSpPr>
          <p:cNvPr id="24" name="Oval 23">
            <a:hlinkClick r:id="rId3" action="ppaction://hlinksldjump"/>
          </p:cNvPr>
          <p:cNvSpPr/>
          <p:nvPr/>
        </p:nvSpPr>
        <p:spPr>
          <a:xfrm>
            <a:off x="8549640" y="3886200"/>
            <a:ext cx="822960" cy="822960"/>
          </a:xfrm>
          <a:prstGeom prst="ellipse">
            <a:avLst/>
          </a:prstGeom>
          <a:solidFill>
            <a:srgbClr val="437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rPr sz="2400"/>
              <a:t>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782312"/>
            <a:ext cx="1463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8372D"/>
                </a:solidFill>
              </a:defRPr>
            </a:pPr>
            <a:r>
              <a:rPr sz="2400"/>
              <a:t>SMS Updates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589788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37D48"/>
                </a:solidFill>
              </a:defRPr>
            </a:pPr>
            <a:r>
              <a:rPr sz="2400"/>
              <a:t>Clicking a feature icon can open its dedicated feature page in the final application.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sz="3000" b="1"/>
              <a:t>7. Methodology /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1908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37D48"/>
                </a:solidFill>
              </a:defRPr>
            </a:pPr>
            <a:r>
              <a:rPr sz="1400"/>
              <a:t>7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508760"/>
            <a:ext cx="658368" cy="658368"/>
          </a:xfrm>
          <a:prstGeom prst="ellipse">
            <a:avLst/>
          </a:prstGeom>
          <a:solidFill>
            <a:srgbClr val="437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400"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" y="2331720"/>
            <a:ext cx="1417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8372D"/>
                </a:solidFill>
              </a:defRPr>
            </a:pPr>
            <a:r>
              <a:rPr sz="2400"/>
              <a:t>Register / Login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61288" y="1828800"/>
            <a:ext cx="1353312" cy="0"/>
          </a:xfrm>
          <a:prstGeom prst="line">
            <a:avLst/>
          </a:prstGeom>
          <a:ln w="25400">
            <a:solidFill>
              <a:srgbClr val="437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514600" y="1508760"/>
            <a:ext cx="658368" cy="658368"/>
          </a:xfrm>
          <a:prstGeom prst="ellipse">
            <a:avLst/>
          </a:prstGeom>
          <a:solidFill>
            <a:srgbClr val="437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400"/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30552" y="2331720"/>
            <a:ext cx="1417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8372D"/>
                </a:solidFill>
              </a:defRPr>
            </a:pPr>
            <a:r>
              <a:rPr sz="2400"/>
              <a:t>Get GPS Location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72968" y="1828800"/>
            <a:ext cx="1353312" cy="0"/>
          </a:xfrm>
          <a:prstGeom prst="line">
            <a:avLst/>
          </a:prstGeom>
          <a:ln w="25400">
            <a:solidFill>
              <a:srgbClr val="437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526280" y="1508760"/>
            <a:ext cx="658368" cy="658368"/>
          </a:xfrm>
          <a:prstGeom prst="ellipse">
            <a:avLst/>
          </a:prstGeom>
          <a:solidFill>
            <a:srgbClr val="437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400"/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96813" y="2331720"/>
            <a:ext cx="15627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8372D"/>
                </a:solidFill>
              </a:defRPr>
            </a:pPr>
            <a:r>
              <a:rPr sz="2400" dirty="0"/>
              <a:t>Reverse Geocoding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184648" y="1828800"/>
            <a:ext cx="1353312" cy="0"/>
          </a:xfrm>
          <a:prstGeom prst="line">
            <a:avLst/>
          </a:prstGeom>
          <a:ln w="25400">
            <a:solidFill>
              <a:srgbClr val="437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537960" y="1508760"/>
            <a:ext cx="658368" cy="658368"/>
          </a:xfrm>
          <a:prstGeom prst="ellipse">
            <a:avLst/>
          </a:prstGeom>
          <a:solidFill>
            <a:srgbClr val="437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400"/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2331720"/>
            <a:ext cx="1417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8372D"/>
                </a:solidFill>
              </a:defRPr>
            </a:pPr>
            <a:r>
              <a:rPr sz="2400"/>
              <a:t>Search / Request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96328" y="1828800"/>
            <a:ext cx="1353312" cy="0"/>
          </a:xfrm>
          <a:prstGeom prst="line">
            <a:avLst/>
          </a:prstGeom>
          <a:ln w="25400">
            <a:solidFill>
              <a:srgbClr val="437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8549640" y="1508760"/>
            <a:ext cx="658368" cy="658368"/>
          </a:xfrm>
          <a:prstGeom prst="ellipse">
            <a:avLst/>
          </a:prstGeom>
          <a:solidFill>
            <a:srgbClr val="437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400"/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2" y="2331720"/>
            <a:ext cx="1417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8372D"/>
                </a:solidFill>
              </a:defRPr>
            </a:pPr>
            <a:r>
              <a:rPr sz="2400"/>
              <a:t>Fetch Data / Calculate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208008" y="1828800"/>
            <a:ext cx="1078992" cy="0"/>
          </a:xfrm>
          <a:prstGeom prst="line">
            <a:avLst/>
          </a:prstGeom>
          <a:ln w="25400">
            <a:solidFill>
              <a:srgbClr val="437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0287000" y="1508760"/>
            <a:ext cx="658368" cy="658368"/>
          </a:xfrm>
          <a:prstGeom prst="ellipse">
            <a:avLst/>
          </a:prstGeom>
          <a:solidFill>
            <a:srgbClr val="437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400"/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2952" y="2331720"/>
            <a:ext cx="1417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8372D"/>
                </a:solidFill>
              </a:defRPr>
            </a:pPr>
            <a:r>
              <a:rPr sz="2400"/>
              <a:t>Display / Notify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977639"/>
            <a:ext cx="102412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7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2400" b="1">
                <a:solidFill>
                  <a:srgbClr val="18372D"/>
                </a:solidFill>
              </a:defRPr>
            </a:pPr>
            <a:r>
              <a:rPr sz="2400"/>
              <a:t>Example Location Flow</a:t>
            </a:r>
          </a:p>
          <a:p>
            <a:pPr>
              <a:defRPr sz="2400">
                <a:solidFill>
                  <a:srgbClr val="232D26"/>
                </a:solidFill>
              </a:defRPr>
            </a:pPr>
            <a:r>
              <a:rPr sz="2400"/>
              <a:t>GPS → Latitude/Longitude → Reverse Geocoding → Current area → Nearby Location Search → Relevant services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62356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37D48"/>
                </a:solidFill>
              </a:defRPr>
            </a:pPr>
            <a:r>
              <a:rPr sz="2400"/>
              <a:t>Weather API / MySQL / notification services are called only when the selected feature needs them.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sz="3000" b="1"/>
              <a:t>8. 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1908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37D48"/>
                </a:solidFill>
              </a:defRPr>
            </a:pPr>
            <a:r>
              <a:rPr sz="1400"/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8372D"/>
                </a:solidFill>
              </a:defRPr>
            </a:pPr>
            <a:r>
              <a:rPr sz="2400"/>
              <a:t>Proposed 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37D48"/>
                </a:solidFill>
              </a:defRPr>
            </a:pPr>
            <a:r>
              <a:rPr sz="2400"/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3246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32D26"/>
                </a:solidFill>
              </a:defRPr>
            </a:pPr>
            <a:r>
              <a:rPr sz="2400"/>
              <a:t>HTML</a:t>
            </a:r>
            <a:br/>
            <a:r>
              <a:rPr sz="2400"/>
              <a:t>CSS</a:t>
            </a:r>
            <a:br/>
            <a:r>
              <a:rPr sz="2400"/>
              <a:t>JavaScript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182880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37D48"/>
                </a:solidFill>
              </a:defRPr>
            </a:pPr>
            <a:r>
              <a:rPr sz="2400"/>
              <a:t>Backend &amp; 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2468880"/>
            <a:ext cx="32461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32D26"/>
                </a:solidFill>
              </a:defRPr>
            </a:pPr>
            <a:r>
              <a:rPr sz="2400" dirty="0"/>
              <a:t>Python Flask</a:t>
            </a:r>
            <a:br>
              <a:rPr dirty="0"/>
            </a:br>
            <a:r>
              <a:rPr sz="2400" dirty="0"/>
              <a:t>MySQL</a:t>
            </a:r>
            <a:br>
              <a:rPr dirty="0"/>
            </a:br>
            <a:r>
              <a:rPr sz="2400" dirty="0"/>
              <a:t>Git / GitHub</a:t>
            </a:r>
            <a:endParaRPr lang="en-US" sz="2400" dirty="0"/>
          </a:p>
          <a:p>
            <a:pPr algn="ctr">
              <a:defRPr sz="2400" b="0">
                <a:solidFill>
                  <a:srgbClr val="232D26"/>
                </a:solidFill>
              </a:defRPr>
            </a:pPr>
            <a:endParaRPr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7726679" y="182880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37D48"/>
                </a:solidFill>
              </a:defRPr>
            </a:pPr>
            <a:r>
              <a:rPr sz="2400"/>
              <a:t>APIs &amp;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2468880"/>
            <a:ext cx="32461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32D26"/>
                </a:solidFill>
              </a:defRPr>
            </a:pPr>
            <a:r>
              <a:rPr sz="2400" dirty="0"/>
              <a:t>GPS / Geolocation</a:t>
            </a:r>
            <a:br>
              <a:rPr dirty="0"/>
            </a:br>
            <a:r>
              <a:rPr sz="2400" dirty="0"/>
              <a:t>Reverse Geocoding</a:t>
            </a:r>
            <a:br>
              <a:rPr dirty="0"/>
            </a:br>
            <a:r>
              <a:rPr sz="2400" dirty="0"/>
              <a:t>Nearby</a:t>
            </a:r>
            <a:r>
              <a:rPr lang="en-US" sz="2400" dirty="0"/>
              <a:t> Area</a:t>
            </a:r>
            <a:r>
              <a:rPr sz="2400" dirty="0"/>
              <a:t> Search</a:t>
            </a:r>
            <a:br>
              <a:rPr dirty="0"/>
            </a:br>
            <a:r>
              <a:rPr sz="2400" dirty="0"/>
              <a:t>Weather API</a:t>
            </a:r>
            <a:br>
              <a:rPr dirty="0"/>
            </a:br>
            <a:r>
              <a:rPr sz="2400" dirty="0"/>
              <a:t>Text-to-Speech</a:t>
            </a:r>
            <a:br>
              <a:rPr dirty="0"/>
            </a:br>
            <a:r>
              <a:rPr sz="2400" dirty="0"/>
              <a:t>SMS / Notifications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0374" y="5400047"/>
            <a:ext cx="99138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8372D"/>
                </a:solidFill>
              </a:defRPr>
            </a:pPr>
            <a:r>
              <a:rPr sz="2400" dirty="0"/>
              <a:t>Hardware: smartphone/computer + internet; GPS/location-capable device for location features.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sz="3000" b="1"/>
              <a:t>9.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1908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37D48"/>
                </a:solidFill>
              </a:defRPr>
            </a:pPr>
            <a:r>
              <a:rPr sz="1400"/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97280"/>
            <a:ext cx="34747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7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2400" b="1">
                <a:solidFill>
                  <a:srgbClr val="18372D"/>
                </a:solidFill>
              </a:defRPr>
            </a:pPr>
            <a:r>
              <a:rPr sz="2400"/>
              <a:t>Farmer</a:t>
            </a:r>
          </a:p>
          <a:p>
            <a:pPr>
              <a:defRPr sz="2400">
                <a:solidFill>
                  <a:srgbClr val="232D26"/>
                </a:solidFill>
              </a:defRPr>
            </a:pPr>
            <a:r>
              <a:rPr sz="2400"/>
              <a:t>Web / Mobile Interface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097280"/>
            <a:ext cx="34747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7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2400" b="1">
                <a:solidFill>
                  <a:srgbClr val="18372D"/>
                </a:solidFill>
              </a:defRPr>
            </a:pPr>
            <a:r>
              <a:rPr sz="2400"/>
              <a:t>Application Layer</a:t>
            </a:r>
          </a:p>
          <a:p>
            <a:pPr>
              <a:defRPr sz="2400">
                <a:solidFill>
                  <a:srgbClr val="232D26"/>
                </a:solidFill>
              </a:defRPr>
            </a:pPr>
            <a:r>
              <a:rPr sz="2400"/>
              <a:t>HTML + CSS + JavaScript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097280"/>
            <a:ext cx="34747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7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2400" b="1">
                <a:solidFill>
                  <a:srgbClr val="18372D"/>
                </a:solidFill>
              </a:defRPr>
            </a:pPr>
            <a:r>
              <a:rPr sz="2400"/>
              <a:t>Backend</a:t>
            </a:r>
          </a:p>
          <a:p>
            <a:pPr>
              <a:defRPr sz="2400">
                <a:solidFill>
                  <a:srgbClr val="232D26"/>
                </a:solidFill>
              </a:defRPr>
            </a:pPr>
            <a:r>
              <a:rPr sz="2400"/>
              <a:t>Python Flask + business logic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60520" y="1737360"/>
            <a:ext cx="182880" cy="0"/>
          </a:xfrm>
          <a:prstGeom prst="line">
            <a:avLst/>
          </a:prstGeom>
          <a:ln w="25400">
            <a:solidFill>
              <a:srgbClr val="437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818120" y="1737360"/>
            <a:ext cx="182880" cy="0"/>
          </a:xfrm>
          <a:prstGeom prst="line">
            <a:avLst/>
          </a:prstGeom>
          <a:ln w="25400">
            <a:solidFill>
              <a:srgbClr val="437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828800" y="3154679"/>
            <a:ext cx="3749039" cy="168279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7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2400" b="1">
                <a:solidFill>
                  <a:srgbClr val="18372D"/>
                </a:solidFill>
              </a:defRPr>
            </a:pPr>
            <a:r>
              <a:rPr sz="2400" dirty="0"/>
              <a:t>Database</a:t>
            </a:r>
          </a:p>
          <a:p>
            <a:pPr>
              <a:defRPr sz="2400">
                <a:solidFill>
                  <a:srgbClr val="232D26"/>
                </a:solidFill>
              </a:defRPr>
            </a:pPr>
            <a:r>
              <a:rPr sz="2400" dirty="0"/>
              <a:t>MySQL</a:t>
            </a:r>
            <a:br>
              <a:rPr dirty="0"/>
            </a:br>
            <a:r>
              <a:rPr sz="2400" dirty="0"/>
              <a:t>Farmer / Crop / Vehicle / </a:t>
            </a:r>
            <a:r>
              <a:rPr sz="2400" dirty="0" err="1"/>
              <a:t>Labour</a:t>
            </a:r>
            <a:r>
              <a:rPr sz="2400" dirty="0"/>
              <a:t> / Scheme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3154680"/>
            <a:ext cx="3931920" cy="168279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7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2400" b="1">
                <a:solidFill>
                  <a:srgbClr val="18372D"/>
                </a:solidFill>
              </a:defRPr>
            </a:pPr>
            <a:r>
              <a:rPr sz="2400" dirty="0"/>
              <a:t>External Services</a:t>
            </a:r>
          </a:p>
          <a:p>
            <a:pPr>
              <a:defRPr sz="2400">
                <a:solidFill>
                  <a:srgbClr val="232D26"/>
                </a:solidFill>
              </a:defRPr>
            </a:pPr>
            <a:r>
              <a:rPr sz="2400" dirty="0"/>
              <a:t>Weather API</a:t>
            </a:r>
            <a:br>
              <a:rPr dirty="0"/>
            </a:br>
            <a:r>
              <a:rPr sz="2400" dirty="0"/>
              <a:t>Geocoding / Nearby Search</a:t>
            </a:r>
            <a:r>
              <a:rPr lang="en-US" sz="2400" dirty="0"/>
              <a:t> /</a:t>
            </a:r>
            <a:br>
              <a:rPr dirty="0"/>
            </a:br>
            <a:r>
              <a:rPr sz="2400" dirty="0"/>
              <a:t>Text-to-Speech / SMS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3703320" y="2331720"/>
            <a:ext cx="2514600" cy="822960"/>
          </a:xfrm>
          <a:prstGeom prst="line">
            <a:avLst/>
          </a:prstGeom>
          <a:ln w="25400">
            <a:solidFill>
              <a:srgbClr val="437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217920" y="2331720"/>
            <a:ext cx="2286000" cy="822960"/>
          </a:xfrm>
          <a:prstGeom prst="line">
            <a:avLst/>
          </a:prstGeom>
          <a:ln w="25400">
            <a:solidFill>
              <a:srgbClr val="437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5074920"/>
            <a:ext cx="102412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8372D"/>
                </a:solidFill>
              </a:defRPr>
            </a:pPr>
            <a:r>
              <a:rPr sz="2400" dirty="0"/>
              <a:t>Advanced / future modules:</a:t>
            </a:r>
            <a:r>
              <a:rPr lang="en-US" sz="2400" dirty="0"/>
              <a:t>  </a:t>
            </a:r>
          </a:p>
          <a:p>
            <a:pPr algn="ctr">
              <a:defRPr sz="2400" b="0">
                <a:solidFill>
                  <a:srgbClr val="18372D"/>
                </a:solidFill>
              </a:defRPr>
            </a:pPr>
            <a:r>
              <a:rPr lang="en-US" sz="2400" dirty="0"/>
              <a:t>•</a:t>
            </a:r>
            <a:r>
              <a:rPr sz="2400" dirty="0"/>
              <a:t> </a:t>
            </a:r>
            <a:r>
              <a:rPr lang="en-US" sz="2400" dirty="0"/>
              <a:t>I</a:t>
            </a:r>
            <a:r>
              <a:rPr sz="2400" dirty="0"/>
              <a:t>mage-based plant-disease assistance</a:t>
            </a:r>
            <a:r>
              <a:rPr lang="en-US" sz="2400" dirty="0"/>
              <a:t> </a:t>
            </a:r>
            <a:r>
              <a:rPr sz="2400" dirty="0"/>
              <a:t>• </a:t>
            </a:r>
            <a:r>
              <a:rPr lang="en-US" sz="2400" dirty="0"/>
              <a:t>Cloud &amp; </a:t>
            </a:r>
            <a:r>
              <a:rPr lang="en-US" sz="2400" dirty="0" err="1"/>
              <a:t>Andriod</a:t>
            </a:r>
            <a:r>
              <a:rPr lang="en-US" sz="2400" dirty="0"/>
              <a:t> Deployment </a:t>
            </a:r>
          </a:p>
          <a:p>
            <a:pPr algn="ctr">
              <a:defRPr sz="2400" b="0">
                <a:solidFill>
                  <a:srgbClr val="18372D"/>
                </a:solidFill>
              </a:defRPr>
            </a:pPr>
            <a:r>
              <a:rPr lang="en-US" sz="2400" dirty="0"/>
              <a:t>• More Regional Languages</a:t>
            </a:r>
            <a:endParaRPr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90389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sz="3000" b="1" dirty="0"/>
              <a:t>1</a:t>
            </a:r>
            <a:r>
              <a:rPr lang="en-US" sz="3000" b="1" dirty="0"/>
              <a:t>0</a:t>
            </a:r>
            <a:r>
              <a:rPr sz="3000" b="1" dirty="0"/>
              <a:t>. Feature Details — Languages, Search &amp; Voice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1908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37D48"/>
                </a:solidFill>
              </a:defRPr>
            </a:pPr>
            <a:r>
              <a:rPr sz="1400"/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8372D"/>
                </a:solidFill>
              </a:defRPr>
            </a:pPr>
            <a:r>
              <a:rPr sz="2400"/>
              <a:t>Accessibility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06324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7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2400" b="1">
                <a:solidFill>
                  <a:srgbClr val="18372D"/>
                </a:solidFill>
              </a:defRPr>
            </a:pPr>
            <a:r>
              <a:rPr sz="2400"/>
              <a:t>Multiple Languages</a:t>
            </a:r>
          </a:p>
          <a:p>
            <a:pPr>
              <a:defRPr sz="2400">
                <a:solidFill>
                  <a:srgbClr val="232D26"/>
                </a:solidFill>
              </a:defRPr>
            </a:pPr>
            <a:r>
              <a:rPr sz="2400"/>
              <a:t>Farmer selects a preferred language; menus and key information are shown accordingly.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828800"/>
            <a:ext cx="306324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7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2400" b="1">
                <a:solidFill>
                  <a:srgbClr val="18372D"/>
                </a:solidFill>
              </a:defRPr>
            </a:pPr>
            <a:r>
              <a:rPr sz="2400"/>
              <a:t>Search Bar</a:t>
            </a:r>
          </a:p>
          <a:p>
            <a:pPr>
              <a:defRPr sz="2400">
                <a:solidFill>
                  <a:srgbClr val="232D26"/>
                </a:solidFill>
              </a:defRPr>
            </a:pPr>
            <a:r>
              <a:rPr sz="2400"/>
              <a:t>Search crops, schemes, nearby services or other features from one place.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828800"/>
            <a:ext cx="306324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7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2400" b="1">
                <a:solidFill>
                  <a:srgbClr val="18372D"/>
                </a:solidFill>
              </a:defRPr>
            </a:pPr>
            <a:r>
              <a:rPr sz="2400"/>
              <a:t>Voice-over</a:t>
            </a:r>
          </a:p>
          <a:p>
            <a:pPr>
              <a:defRPr sz="2400">
                <a:solidFill>
                  <a:srgbClr val="232D26"/>
                </a:solidFill>
              </a:defRPr>
            </a:pPr>
            <a:r>
              <a:rPr sz="2400"/>
              <a:t>Text-to-Speech reads important information aloud in the selected language.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37D48"/>
                </a:solidFill>
              </a:defRPr>
            </a:pPr>
            <a:r>
              <a:rPr sz="2400"/>
              <a:t>Goal: make KisanMithr easier to use for farmers with different language and literacy needs.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05444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sz="3000" b="1" dirty="0"/>
              <a:t>1</a:t>
            </a:r>
            <a:r>
              <a:rPr lang="en-US" sz="3000" b="1" dirty="0"/>
              <a:t>1</a:t>
            </a:r>
            <a:r>
              <a:rPr sz="3000" b="1" dirty="0"/>
              <a:t>. Feature Details — Basic Phone / SMS Updates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1908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37D48"/>
                </a:solidFill>
              </a:defRPr>
            </a:pPr>
            <a:r>
              <a:rPr sz="1400"/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8372D"/>
                </a:solidFill>
              </a:defRPr>
            </a:pPr>
            <a:r>
              <a:rPr sz="2400"/>
              <a:t>Proposed assisted-registration approach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828800"/>
            <a:ext cx="566928" cy="566928"/>
          </a:xfrm>
          <a:prstGeom prst="ellipse">
            <a:avLst/>
          </a:prstGeom>
          <a:solidFill>
            <a:srgbClr val="437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400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8372D"/>
                </a:solidFill>
              </a:defRPr>
            </a:pPr>
            <a:r>
              <a:rPr sz="2400"/>
              <a:t>Register once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32D26"/>
                </a:solidFill>
              </a:defRPr>
            </a:pPr>
            <a:r>
              <a:rPr sz="2400"/>
              <a:t>At an assisted service centre (e.g., MeeSeva)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80160" y="2103120"/>
            <a:ext cx="2011680" cy="0"/>
          </a:xfrm>
          <a:prstGeom prst="line">
            <a:avLst/>
          </a:prstGeom>
          <a:ln>
            <a:solidFill>
              <a:srgbClr val="437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520440" y="1828800"/>
            <a:ext cx="566928" cy="566928"/>
          </a:xfrm>
          <a:prstGeom prst="ellipse">
            <a:avLst/>
          </a:prstGeom>
          <a:solidFill>
            <a:srgbClr val="437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400"/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514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8372D"/>
                </a:solidFill>
              </a:defRPr>
            </a:pPr>
            <a:r>
              <a:rPr sz="2400"/>
              <a:t>Save phone + area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063240"/>
            <a:ext cx="21031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32D26"/>
                </a:solidFill>
              </a:defRPr>
            </a:pPr>
            <a:endParaRPr lang="en-US" sz="2400" dirty="0"/>
          </a:p>
          <a:p>
            <a:pPr algn="ctr">
              <a:defRPr sz="1800" b="0">
                <a:solidFill>
                  <a:srgbClr val="232D26"/>
                </a:solidFill>
              </a:defRPr>
            </a:pPr>
            <a:r>
              <a:rPr sz="2400" dirty="0"/>
              <a:t>Link mobile number and farmer details</a:t>
            </a:r>
            <a:endParaRPr lang="en-US" sz="2400" dirty="0"/>
          </a:p>
          <a:p>
            <a:pPr algn="ctr">
              <a:defRPr sz="1800" b="0">
                <a:solidFill>
                  <a:srgbClr val="232D26"/>
                </a:solidFill>
              </a:defRPr>
            </a:pPr>
            <a:endParaRPr sz="2400" dirty="0"/>
          </a:p>
        </p:txBody>
      </p:sp>
      <p:cxnSp>
        <p:nvCxnSpPr>
          <p:cNvPr id="13" name="Connector 12"/>
          <p:cNvCxnSpPr/>
          <p:nvPr/>
        </p:nvCxnSpPr>
        <p:spPr>
          <a:xfrm>
            <a:off x="4114800" y="2103120"/>
            <a:ext cx="2011680" cy="0"/>
          </a:xfrm>
          <a:prstGeom prst="line">
            <a:avLst/>
          </a:prstGeom>
          <a:ln>
            <a:solidFill>
              <a:srgbClr val="437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355080" y="1828800"/>
            <a:ext cx="566928" cy="566928"/>
          </a:xfrm>
          <a:prstGeom prst="ellipse">
            <a:avLst/>
          </a:prstGeom>
          <a:solidFill>
            <a:srgbClr val="437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400"/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514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8372D"/>
                </a:solidFill>
              </a:defRPr>
            </a:pPr>
            <a:r>
              <a:rPr sz="2400"/>
              <a:t>Send updates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06324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32D26"/>
                </a:solidFill>
              </a:defRPr>
            </a:pPr>
            <a:r>
              <a:rPr sz="2400"/>
              <a:t>SMS alerts for relevant information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949440" y="2103120"/>
            <a:ext cx="2011680" cy="0"/>
          </a:xfrm>
          <a:prstGeom prst="line">
            <a:avLst/>
          </a:prstGeom>
          <a:ln>
            <a:solidFill>
              <a:srgbClr val="437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9189720" y="1828800"/>
            <a:ext cx="566928" cy="566928"/>
          </a:xfrm>
          <a:prstGeom prst="ellipse">
            <a:avLst/>
          </a:prstGeom>
          <a:solidFill>
            <a:srgbClr val="437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400"/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2514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8372D"/>
                </a:solidFill>
              </a:defRPr>
            </a:pPr>
            <a:r>
              <a:rPr sz="2400"/>
              <a:t>Basic-phone 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19535" y="3063240"/>
            <a:ext cx="25662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32D26"/>
                </a:solidFill>
              </a:defRPr>
            </a:pPr>
            <a:endParaRPr lang="en-US" sz="2400" dirty="0"/>
          </a:p>
          <a:p>
            <a:pPr algn="ctr">
              <a:defRPr sz="1800" b="0">
                <a:solidFill>
                  <a:srgbClr val="232D26"/>
                </a:solidFill>
              </a:defRPr>
            </a:pPr>
            <a:r>
              <a:rPr lang="en-US" sz="2400" dirty="0"/>
              <a:t>No</a:t>
            </a:r>
            <a:r>
              <a:rPr sz="2400" dirty="0"/>
              <a:t> smartphone app required for receiving alerts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5001768"/>
            <a:ext cx="10058400" cy="16184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7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2400" b="1">
                <a:solidFill>
                  <a:srgbClr val="18372D"/>
                </a:solidFill>
              </a:defRPr>
            </a:pPr>
            <a:r>
              <a:rPr sz="2400" dirty="0"/>
              <a:t>Important implementation note</a:t>
            </a:r>
          </a:p>
          <a:p>
            <a:pPr>
              <a:defRPr sz="2400">
                <a:solidFill>
                  <a:srgbClr val="232D26"/>
                </a:solidFill>
              </a:defRPr>
            </a:pPr>
            <a:r>
              <a:rPr sz="2400" dirty="0"/>
              <a:t>For the mini-project, this can be demonstrated as a proposed SMS workflow. A real SMS gateway and service-</a:t>
            </a:r>
            <a:r>
              <a:rPr sz="2400" dirty="0" err="1"/>
              <a:t>centre</a:t>
            </a:r>
            <a:r>
              <a:rPr sz="2400" dirty="0"/>
              <a:t> integration would be added for deployment.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7A6DB2-538B-06CA-44C3-6068733DC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4D4EEB-DA1B-C2CB-94C4-CCC657940A74}"/>
              </a:ext>
            </a:extLst>
          </p:cNvPr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C01A77-5A02-2D06-1F6A-796D5D67E4F8}"/>
              </a:ext>
            </a:extLst>
          </p:cNvPr>
          <p:cNvSpPr txBox="1"/>
          <p:nvPr/>
        </p:nvSpPr>
        <p:spPr>
          <a:xfrm>
            <a:off x="471948" y="91440"/>
            <a:ext cx="493064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sz="3000" b="1" dirty="0"/>
              <a:t>1</a:t>
            </a:r>
            <a:r>
              <a:rPr lang="en-US" sz="3000" b="1" dirty="0"/>
              <a:t>2. Advantages / Applications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0C41FB-8C03-07BA-F357-AEE5A969C4FD}"/>
              </a:ext>
            </a:extLst>
          </p:cNvPr>
          <p:cNvSpPr txBox="1"/>
          <p:nvPr/>
        </p:nvSpPr>
        <p:spPr>
          <a:xfrm>
            <a:off x="11018520" y="641908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37D48"/>
                </a:solidFill>
              </a:defRPr>
            </a:pPr>
            <a:r>
              <a:rPr sz="1400"/>
              <a:t>12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C25BD5-1BE8-9818-5544-6F661F534F31}"/>
              </a:ext>
            </a:extLst>
          </p:cNvPr>
          <p:cNvSpPr txBox="1"/>
          <p:nvPr/>
        </p:nvSpPr>
        <p:spPr>
          <a:xfrm>
            <a:off x="3291840" y="3063240"/>
            <a:ext cx="21031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32D26"/>
                </a:solidFill>
              </a:defRPr>
            </a:pPr>
            <a:endParaRPr lang="en-US" sz="2400" dirty="0"/>
          </a:p>
          <a:p>
            <a:pPr algn="ctr">
              <a:defRPr sz="1800" b="0">
                <a:solidFill>
                  <a:srgbClr val="232D26"/>
                </a:solidFill>
              </a:defRPr>
            </a:pPr>
            <a:endParaRPr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688D65-3EC1-895D-9D0F-62B25390BBA1}"/>
              </a:ext>
            </a:extLst>
          </p:cNvPr>
          <p:cNvSpPr txBox="1"/>
          <p:nvPr/>
        </p:nvSpPr>
        <p:spPr>
          <a:xfrm>
            <a:off x="8819535" y="3063240"/>
            <a:ext cx="25662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32D26"/>
                </a:solidFill>
              </a:defRPr>
            </a:pPr>
            <a:endParaRPr sz="2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D5C134C-1878-2933-7CCE-F89EE934A74C}"/>
              </a:ext>
            </a:extLst>
          </p:cNvPr>
          <p:cNvSpPr txBox="1"/>
          <p:nvPr/>
        </p:nvSpPr>
        <p:spPr>
          <a:xfrm>
            <a:off x="471948" y="1076633"/>
            <a:ext cx="912925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Provides multiple agricultural services in one platform.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Helps farmers find nearby markets, tractors, harvesters and </a:t>
            </a:r>
            <a:r>
              <a:rPr lang="en-US" sz="2400" dirty="0" err="1"/>
              <a:t>labour</a:t>
            </a:r>
            <a:r>
              <a:rPr lang="en-US" sz="24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Provides weather updates based on location.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Helps calculate crop requirements and cultivation costs.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Gives information about government schemes.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Supports multiple languages and voice-over.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Provides search and notification features.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Can support basic phones through SMS updates.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Makes agricultural services easier, faster and more accessible.</a:t>
            </a:r>
          </a:p>
        </p:txBody>
      </p:sp>
    </p:spTree>
    <p:extLst>
      <p:ext uri="{BB962C8B-B14F-4D97-AF65-F5344CB8AC3E}">
        <p14:creationId xmlns:p14="http://schemas.microsoft.com/office/powerpoint/2010/main" val="35990046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8965AE-6972-FE9D-067C-FDFEED0F3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474E56-00EB-5B9C-9426-286BB4F2C022}"/>
              </a:ext>
            </a:extLst>
          </p:cNvPr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F713E1-7B6B-960E-D889-82041EA5EA5E}"/>
              </a:ext>
            </a:extLst>
          </p:cNvPr>
          <p:cNvSpPr txBox="1"/>
          <p:nvPr/>
        </p:nvSpPr>
        <p:spPr>
          <a:xfrm>
            <a:off x="471948" y="91440"/>
            <a:ext cx="2505814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lang="en-US" sz="3000" b="1" dirty="0"/>
              <a:t>13. 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50B54F-654D-5986-04F4-B8D5B4543CED}"/>
              </a:ext>
            </a:extLst>
          </p:cNvPr>
          <p:cNvSpPr txBox="1"/>
          <p:nvPr/>
        </p:nvSpPr>
        <p:spPr>
          <a:xfrm>
            <a:off x="11018520" y="641908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37D48"/>
                </a:solidFill>
              </a:defRPr>
            </a:pPr>
            <a:r>
              <a:rPr sz="1400"/>
              <a:t>12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F7141A-9E4D-D7EC-7570-87E006FFE50A}"/>
              </a:ext>
            </a:extLst>
          </p:cNvPr>
          <p:cNvSpPr txBox="1"/>
          <p:nvPr/>
        </p:nvSpPr>
        <p:spPr>
          <a:xfrm>
            <a:off x="3291840" y="3063240"/>
            <a:ext cx="21031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32D26"/>
                </a:solidFill>
              </a:defRPr>
            </a:pPr>
            <a:endParaRPr lang="en-US" sz="2400" dirty="0"/>
          </a:p>
          <a:p>
            <a:pPr algn="ctr">
              <a:defRPr sz="1800" b="0">
                <a:solidFill>
                  <a:srgbClr val="232D26"/>
                </a:solidFill>
              </a:defRPr>
            </a:pPr>
            <a:endParaRPr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D60DE6-FD1F-D4B3-27D2-C6E5A1D12249}"/>
              </a:ext>
            </a:extLst>
          </p:cNvPr>
          <p:cNvSpPr txBox="1"/>
          <p:nvPr/>
        </p:nvSpPr>
        <p:spPr>
          <a:xfrm>
            <a:off x="8819535" y="3063240"/>
            <a:ext cx="25662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32D26"/>
                </a:solidFill>
              </a:defRPr>
            </a:pPr>
            <a:endParaRPr sz="2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5AB595-6045-4EF5-5C4D-76FCF4C6A86D}"/>
              </a:ext>
            </a:extLst>
          </p:cNvPr>
          <p:cNvSpPr txBox="1"/>
          <p:nvPr/>
        </p:nvSpPr>
        <p:spPr>
          <a:xfrm>
            <a:off x="471948" y="1076633"/>
            <a:ext cx="1118665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 err="1"/>
              <a:t>KisanMithr</a:t>
            </a:r>
            <a:r>
              <a:rPr lang="en-US" sz="2400" dirty="0"/>
              <a:t> is a farmer-centric platform designed to bring essential agricultural services together in one place. By combining location-based services, weather APIs, crop calculation, government schemes, machinery and </a:t>
            </a:r>
            <a:r>
              <a:rPr lang="en-US" sz="2400" dirty="0" err="1"/>
              <a:t>labour</a:t>
            </a:r>
            <a:r>
              <a:rPr lang="en-US" sz="2400" dirty="0"/>
              <a:t> search, multilingual support and voice assistance, the system aims to make agricultural resources more accessible and convenient for farmers.</a:t>
            </a:r>
          </a:p>
          <a:p>
            <a:r>
              <a:rPr lang="en-US" sz="2400" dirty="0"/>
              <a:t>The proposed platform can be further enhanced with AI-based disease detection, real-time market data, smart crop recommendations, SMS/offline support, cloud deployment and an Android application.</a:t>
            </a:r>
          </a:p>
        </p:txBody>
      </p:sp>
    </p:spTree>
    <p:extLst>
      <p:ext uri="{BB962C8B-B14F-4D97-AF65-F5344CB8AC3E}">
        <p14:creationId xmlns:p14="http://schemas.microsoft.com/office/powerpoint/2010/main" val="32463965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9887E8-8107-1776-EDFB-E5E394CD4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D6F3CE-AF8C-C3E7-12ED-D8B88260D27A}"/>
              </a:ext>
            </a:extLst>
          </p:cNvPr>
          <p:cNvSpPr txBox="1"/>
          <p:nvPr/>
        </p:nvSpPr>
        <p:spPr>
          <a:xfrm>
            <a:off x="11018520" y="641908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37D48"/>
                </a:solidFill>
              </a:defRPr>
            </a:pPr>
            <a:r>
              <a:rPr sz="1400"/>
              <a:t>12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EC6182-511C-40E9-5AAC-63F53E28C97F}"/>
              </a:ext>
            </a:extLst>
          </p:cNvPr>
          <p:cNvSpPr txBox="1"/>
          <p:nvPr/>
        </p:nvSpPr>
        <p:spPr>
          <a:xfrm>
            <a:off x="3291840" y="3063240"/>
            <a:ext cx="21031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32D26"/>
                </a:solidFill>
              </a:defRPr>
            </a:pPr>
            <a:endParaRPr lang="en-US" sz="2400" dirty="0"/>
          </a:p>
          <a:p>
            <a:pPr algn="ctr">
              <a:defRPr sz="1800" b="0">
                <a:solidFill>
                  <a:srgbClr val="232D26"/>
                </a:solidFill>
              </a:defRPr>
            </a:pPr>
            <a:endParaRPr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76A645-FF07-1BB0-49BD-A18A0347756D}"/>
              </a:ext>
            </a:extLst>
          </p:cNvPr>
          <p:cNvSpPr txBox="1"/>
          <p:nvPr/>
        </p:nvSpPr>
        <p:spPr>
          <a:xfrm>
            <a:off x="8819535" y="3063240"/>
            <a:ext cx="25662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32D26"/>
                </a:solidFill>
              </a:defRPr>
            </a:pPr>
            <a:endParaRPr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141191-2A94-CC1E-D3E7-97E12A5CD158}"/>
              </a:ext>
            </a:extLst>
          </p:cNvPr>
          <p:cNvSpPr txBox="1"/>
          <p:nvPr/>
        </p:nvSpPr>
        <p:spPr>
          <a:xfrm>
            <a:off x="0" y="2739481"/>
            <a:ext cx="121920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88713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931</Words>
  <Application>Microsoft Office PowerPoint</Application>
  <PresentationFormat>Widescreen</PresentationFormat>
  <Paragraphs>170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vaishnavigarige2006@gmail.com</cp:lastModifiedBy>
  <cp:revision>2</cp:revision>
  <dcterms:created xsi:type="dcterms:W3CDTF">2013-01-27T09:14:16Z</dcterms:created>
  <dcterms:modified xsi:type="dcterms:W3CDTF">2026-09-21T05:55:34Z</dcterms:modified>
  <cp:category/>
</cp:coreProperties>
</file>